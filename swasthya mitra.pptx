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7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5143500"/>
  <p:notesSz cx="5143500" cy="9144000"/>
  <p:embeddedFontLst>
    <p:embeddedFont>
      <p:font typeface="Lora" pitchFamily="34" charset="0"/>
      <p:regular r:id="rId22"/>
    </p:embeddedFont>
    <p:embeddedFont>
      <p:font typeface="Lora" pitchFamily="34" charset="-122"/>
      <p:regular r:id="rId23"/>
    </p:embeddedFont>
    <p:embeddedFont>
      <p:font typeface="Lora" pitchFamily="34" charset="-120"/>
      <p:regular r:id="rId24"/>
    </p:embeddedFont>
    <p:embeddedFont>
      <p:font typeface="Source Sans 3" panose="020B0303030403020204" pitchFamily="34" charset="0"/>
      <p:regular r:id="rId25"/>
    </p:embeddedFont>
    <p:embeddedFont>
      <p:font typeface="Source Sans 3" panose="020B0303030403020204" pitchFamily="34" charset="-122"/>
      <p:regular r:id="rId26"/>
    </p:embeddedFont>
    <p:embeddedFont>
      <p:font typeface="Source Sans 3" panose="020B0303030403020204" pitchFamily="34" charset="-120"/>
      <p:regular r:id="rId27"/>
    </p:embeddedFont>
    <p:embeddedFont>
      <p:font typeface="Source Sans 3 Bold" panose="020B0303030403020204" pitchFamily="34" charset="0"/>
      <p:bold r:id="rId28"/>
    </p:embeddedFont>
    <p:embeddedFont>
      <p:font typeface="Source Sans 3 Bold" panose="020B0303030403020204" pitchFamily="34" charset="-122"/>
      <p:bold r:id="rId29"/>
    </p:embeddedFont>
    <p:embeddedFont>
      <p:font typeface="Source Sans 3 Bold" panose="020B0303030403020204" pitchFamily="34" charset="-120"/>
      <p:bold r:id="rId30"/>
    </p:embeddedFont>
    <p:embeddedFont>
      <p:font typeface="Calibri" panose="020F0502020204030204" charset="0"/>
      <p:regular r:id="rId31"/>
      <p:bold r:id="rId32"/>
      <p:italic r:id="rId33"/>
      <p:boldItalic r:id="rId3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28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33" Type="http://schemas.openxmlformats.org/officeDocument/2006/relationships/font" Target="fonts/font12.fntdata"/><Relationship Id="rId32" Type="http://schemas.openxmlformats.org/officeDocument/2006/relationships/font" Target="fonts/font11.fntdata"/><Relationship Id="rId31" Type="http://schemas.openxmlformats.org/officeDocument/2006/relationships/font" Target="fonts/font10.fntdata"/><Relationship Id="rId30" Type="http://schemas.openxmlformats.org/officeDocument/2006/relationships/font" Target="fonts/font9.fntdata"/><Relationship Id="rId3" Type="http://schemas.openxmlformats.org/officeDocument/2006/relationships/slide" Target="slides/slide1.xml"/><Relationship Id="rId29" Type="http://schemas.openxmlformats.org/officeDocument/2006/relationships/font" Target="fonts/font8.fntdata"/><Relationship Id="rId28" Type="http://schemas.openxmlformats.org/officeDocument/2006/relationships/font" Target="fonts/font7.fntdata"/><Relationship Id="rId27" Type="http://schemas.openxmlformats.org/officeDocument/2006/relationships/font" Target="fonts/font6.fntdata"/><Relationship Id="rId26" Type="http://schemas.openxmlformats.org/officeDocument/2006/relationships/font" Target="fonts/font5.fntdata"/><Relationship Id="rId25" Type="http://schemas.openxmlformats.org/officeDocument/2006/relationships/font" Target="fonts/font4.fntdata"/><Relationship Id="rId24" Type="http://schemas.openxmlformats.org/officeDocument/2006/relationships/font" Target="fonts/font3.fntdata"/><Relationship Id="rId23" Type="http://schemas.openxmlformats.org/officeDocument/2006/relationships/font" Target="fonts/font2.fntdata"/><Relationship Id="rId22" Type="http://schemas.openxmlformats.org/officeDocument/2006/relationships/font" Target="fonts/font1.fntdata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1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hyperlink" Target="mailto:ayankoley306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71195" y="754380"/>
            <a:ext cx="7949565" cy="82740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Swasthya Mitra</a:t>
            </a:r>
            <a:endParaRPr lang="en-US" sz="2750" dirty="0">
              <a:solidFill>
                <a:srgbClr val="F98AC7"/>
              </a:solidFill>
              <a:latin typeface="Lora" pitchFamily="34" charset="0"/>
              <a:ea typeface="Lora" pitchFamily="34" charset="-122"/>
              <a:cs typeface="Lora" pitchFamily="34" charset="-120"/>
            </a:endParaRP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Smart Healthcare &amp; Management System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671195" y="1722120"/>
            <a:ext cx="7949565" cy="6718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0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UI/UX Design &amp; Prototyping using Figma — A smart doctor appointment and healthcare management platform designed for simplicity, security, and faster access to care.</a:t>
            </a:r>
            <a:endParaRPr lang="en-US" sz="1400" dirty="0">
              <a:solidFill>
                <a:srgbClr val="D6E5EF"/>
              </a:solidFill>
              <a:latin typeface="Source Sans 3" panose="020B0303030403020204" pitchFamily="34" charset="0"/>
              <a:ea typeface="Source Sans 3" panose="020B0303030403020204" pitchFamily="34" charset="-122"/>
              <a:cs typeface="Source Sans 3" panose="020B0303030403020204" pitchFamily="34" charset="-12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926070" y="4789170"/>
            <a:ext cx="1227455" cy="354330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2110105" y="2745740"/>
            <a:ext cx="4924425" cy="15633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ctr">
              <a:lnSpc>
                <a:spcPct val="133000"/>
              </a:lnSpc>
              <a:buNone/>
            </a:pPr>
            <a:r>
              <a:rPr lang="en-US" b="1" dirty="0">
                <a:solidFill>
                  <a:srgbClr val="D6E5EF"/>
                </a:solidFill>
                <a:latin typeface="Source Sans 3 Bold" panose="020B0303030403020204" pitchFamily="34" charset="0"/>
                <a:ea typeface="Source Sans 3 Bold" panose="020B0303030403020204" pitchFamily="34" charset="-122"/>
                <a:cs typeface="Source Sans 3 Bold" panose="020B0303030403020204" pitchFamily="34" charset="-120"/>
                <a:sym typeface="+mn-ea"/>
              </a:rPr>
              <a:t>Created by:</a:t>
            </a:r>
            <a:r>
              <a:rPr lang="en-US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  <a:sym typeface="+mn-ea"/>
              </a:rPr>
              <a:t> Prithwijit Khan, Ayan Koley </a:t>
            </a:r>
            <a:endParaRPr lang="en-US" dirty="0">
              <a:solidFill>
                <a:srgbClr val="D6E5EF"/>
              </a:solidFill>
              <a:latin typeface="Source Sans 3" panose="020B0303030403020204" pitchFamily="34" charset="0"/>
              <a:ea typeface="Source Sans 3" panose="020B0303030403020204" pitchFamily="34" charset="-122"/>
              <a:cs typeface="Source Sans 3" panose="020B0303030403020204" pitchFamily="34" charset="-120"/>
            </a:endParaRPr>
          </a:p>
          <a:p>
            <a:pPr marL="0" indent="0" algn="ctr">
              <a:lnSpc>
                <a:spcPct val="133000"/>
              </a:lnSpc>
              <a:buNone/>
            </a:pPr>
            <a:r>
              <a:rPr lang="en-US" b="1" dirty="0">
                <a:solidFill>
                  <a:srgbClr val="D6E5EF"/>
                </a:solidFill>
                <a:latin typeface="Source Sans 3 Bold" panose="020B0303030403020204" pitchFamily="34" charset="0"/>
                <a:ea typeface="Source Sans 3 Bold" panose="020B0303030403020204" pitchFamily="34" charset="-122"/>
                <a:cs typeface="Source Sans 3 Bold" panose="020B0303030403020204" pitchFamily="34" charset="-120"/>
                <a:sym typeface="+mn-ea"/>
              </a:rPr>
              <a:t>Roll Nos:</a:t>
            </a:r>
            <a:r>
              <a:rPr lang="en-US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  <a:sym typeface="+mn-ea"/>
              </a:rPr>
              <a:t> 18842725073, 18842725097 </a:t>
            </a:r>
            <a:endParaRPr lang="en-US" dirty="0">
              <a:solidFill>
                <a:srgbClr val="D6E5EF"/>
              </a:solidFill>
              <a:latin typeface="Source Sans 3" panose="020B0303030403020204" pitchFamily="34" charset="0"/>
              <a:ea typeface="Source Sans 3" panose="020B0303030403020204" pitchFamily="34" charset="-122"/>
              <a:cs typeface="Source Sans 3" panose="020B0303030403020204" pitchFamily="34" charset="-120"/>
            </a:endParaRPr>
          </a:p>
          <a:p>
            <a:pPr marL="0" indent="0" algn="ctr">
              <a:lnSpc>
                <a:spcPct val="133000"/>
              </a:lnSpc>
              <a:buNone/>
            </a:pPr>
            <a:r>
              <a:rPr lang="en-US" b="1" dirty="0">
                <a:solidFill>
                  <a:srgbClr val="D6E5EF"/>
                </a:solidFill>
                <a:latin typeface="Source Sans 3 Bold" panose="020B0303030403020204" pitchFamily="34" charset="0"/>
                <a:ea typeface="Source Sans 3 Bold" panose="020B0303030403020204" pitchFamily="34" charset="-122"/>
                <a:cs typeface="Source Sans 3 Bold" panose="020B0303030403020204" pitchFamily="34" charset="-120"/>
                <a:sym typeface="+mn-ea"/>
              </a:rPr>
              <a:t>College:</a:t>
            </a:r>
            <a:r>
              <a:rPr lang="en-US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  <a:sym typeface="+mn-ea"/>
              </a:rPr>
              <a:t> Techno College Hooghly </a:t>
            </a:r>
            <a:endParaRPr lang="en-US" dirty="0">
              <a:solidFill>
                <a:srgbClr val="D6E5EF"/>
              </a:solidFill>
              <a:latin typeface="Source Sans 3" panose="020B0303030403020204" pitchFamily="34" charset="0"/>
              <a:ea typeface="Source Sans 3" panose="020B0303030403020204" pitchFamily="34" charset="-122"/>
              <a:cs typeface="Source Sans 3" panose="020B0303030403020204" pitchFamily="34" charset="-120"/>
            </a:endParaRPr>
          </a:p>
          <a:p>
            <a:pPr marL="0" indent="0" algn="ctr">
              <a:lnSpc>
                <a:spcPct val="133000"/>
              </a:lnSpc>
              <a:buNone/>
            </a:pPr>
            <a:r>
              <a:rPr lang="en-US" b="1" dirty="0">
                <a:solidFill>
                  <a:srgbClr val="D6E5EF"/>
                </a:solidFill>
                <a:latin typeface="Source Sans 3 Bold" panose="020B0303030403020204" pitchFamily="34" charset="0"/>
                <a:ea typeface="Source Sans 3 Bold" panose="020B0303030403020204" pitchFamily="34" charset="-122"/>
                <a:cs typeface="Source Sans 3 Bold" panose="020B0303030403020204" pitchFamily="34" charset="-120"/>
                <a:sym typeface="+mn-ea"/>
              </a:rPr>
              <a:t>Department:</a:t>
            </a:r>
            <a:r>
              <a:rPr lang="en-US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  <a:sym typeface="+mn-ea"/>
              </a:rPr>
              <a:t> Bachelor of Computer Application</a:t>
            </a:r>
            <a:endParaRPr lang="en-US" dirty="0">
              <a:solidFill>
                <a:srgbClr val="D6E5EF"/>
              </a:solidFill>
              <a:latin typeface="Source Sans 3" panose="020B0303030403020204" pitchFamily="34" charset="0"/>
              <a:ea typeface="Source Sans 3" panose="020B0303030403020204" pitchFamily="34" charset="-122"/>
              <a:cs typeface="Source Sans 3" panose="020B0303030403020204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091940" y="430530"/>
            <a:ext cx="4528820" cy="330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Problem Statement</a:t>
            </a:r>
            <a:endParaRPr lang="en-US" sz="2050" dirty="0"/>
          </a:p>
        </p:txBody>
      </p:sp>
      <p:sp>
        <p:nvSpPr>
          <p:cNvPr id="4" name="Text 1"/>
          <p:cNvSpPr/>
          <p:nvPr/>
        </p:nvSpPr>
        <p:spPr>
          <a:xfrm>
            <a:off x="4091940" y="957580"/>
            <a:ext cx="4528820" cy="1234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spcAft>
                <a:spcPts val="1150"/>
              </a:spcAft>
              <a:buNone/>
            </a:pPr>
            <a:r>
              <a:rPr lang="en-US" sz="110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Patients face friction when accessing care: long in-hospital waits, difficulty finding specialists, manual appointment booking, fragmented medical records, and weak patient–doctor communication. These barriers reduce satisfaction and delay treatment.</a:t>
            </a:r>
            <a:endParaRPr lang="en-US" sz="1100" dirty="0"/>
          </a:p>
          <a:p>
            <a:pPr marL="0" indent="0" algn="l">
              <a:lnSpc>
                <a:spcPct val="129000"/>
              </a:lnSpc>
              <a:buNone/>
            </a:pPr>
            <a:r>
              <a:rPr lang="en-US" sz="1100" b="1" dirty="0">
                <a:solidFill>
                  <a:srgbClr val="D6E5EF"/>
                </a:solidFill>
                <a:latin typeface="Source Sans 3 Bold" panose="020B0303030403020204" pitchFamily="34" charset="0"/>
                <a:ea typeface="Source Sans 3 Bold" panose="020B0303030403020204" pitchFamily="34" charset="-122"/>
                <a:cs typeface="Source Sans 3 Bold" panose="020B0303030403020204" pitchFamily="34" charset="-120"/>
              </a:rPr>
              <a:t>Project Objectives: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092575" y="2339975"/>
            <a:ext cx="4528185" cy="100711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Reduce wait time</a:t>
            </a:r>
            <a:endParaRPr lang="en-US" sz="1100" dirty="0"/>
          </a:p>
          <a:p>
            <a:pPr marL="223520" indent="-223520" algn="l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Centralize records</a:t>
            </a:r>
            <a:endParaRPr lang="en-US" sz="1100" dirty="0"/>
          </a:p>
          <a:p>
            <a:pPr marL="223520" indent="-223520" algn="l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Improve communication</a:t>
            </a:r>
            <a:endParaRPr lang="en-US" sz="1100" dirty="0"/>
          </a:p>
          <a:p>
            <a:pPr marL="223520" indent="-223520" algn="l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Make booking effortless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109085" y="3495675"/>
            <a:ext cx="2112010" cy="1127760"/>
          </a:xfrm>
          <a:prstGeom prst="roundRect">
            <a:avLst>
              <a:gd name="adj" fmla="val 1728"/>
            </a:avLst>
          </a:prstGeom>
          <a:solidFill>
            <a:srgbClr val="444752"/>
          </a:solidFill>
        </p:spPr>
      </p:sp>
      <p:sp>
        <p:nvSpPr>
          <p:cNvPr id="7" name="Text 4"/>
          <p:cNvSpPr/>
          <p:nvPr/>
        </p:nvSpPr>
        <p:spPr>
          <a:xfrm>
            <a:off x="4229735" y="3635375"/>
            <a:ext cx="1850390" cy="1911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Primary Goals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229735" y="3920490"/>
            <a:ext cx="1850390" cy="6038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Reduce wait time • Centralize records • Improve communication • Make booking effortless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351905" y="3495675"/>
            <a:ext cx="2192655" cy="1135380"/>
          </a:xfrm>
          <a:prstGeom prst="roundRect">
            <a:avLst>
              <a:gd name="adj" fmla="val 1728"/>
            </a:avLst>
          </a:prstGeom>
          <a:solidFill>
            <a:srgbClr val="444752"/>
          </a:solidFill>
        </p:spPr>
      </p:sp>
      <p:sp>
        <p:nvSpPr>
          <p:cNvPr id="10" name="Text 7"/>
          <p:cNvSpPr/>
          <p:nvPr/>
        </p:nvSpPr>
        <p:spPr>
          <a:xfrm>
            <a:off x="6492240" y="3635375"/>
            <a:ext cx="1920875" cy="1924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Target Users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492240" y="3920490"/>
            <a:ext cx="1920875" cy="40576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Patients, general practitioners, specialists, clinic admins</a:t>
            </a:r>
            <a:endParaRPr lang="en-US" sz="1100" dirty="0"/>
          </a:p>
        </p:txBody>
      </p:sp>
      <p:sp>
        <p:nvSpPr>
          <p:cNvPr id="12" name="Rectangle 11"/>
          <p:cNvSpPr/>
          <p:nvPr/>
        </p:nvSpPr>
        <p:spPr>
          <a:xfrm>
            <a:off x="7926070" y="4789170"/>
            <a:ext cx="1227455" cy="354330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13" name="Picture 12"/>
          <p:cNvPicPr/>
          <p:nvPr/>
        </p:nvPicPr>
        <p:blipFill>
          <a:blip r:embed="rId1"/>
          <a:srcRect l="29852" r="18642"/>
          <a:stretch>
            <a:fillRect/>
          </a:stretch>
        </p:blipFill>
        <p:spPr>
          <a:xfrm>
            <a:off x="0" y="0"/>
            <a:ext cx="397383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03721"/>
            <a:ext cx="8096845" cy="4400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Features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523577" y="1342951"/>
            <a:ext cx="2599209" cy="3196828"/>
          </a:xfrm>
          <a:prstGeom prst="roundRect">
            <a:avLst>
              <a:gd name="adj" fmla="val 863"/>
            </a:avLst>
          </a:prstGeom>
          <a:solidFill>
            <a:srgbClr val="444752"/>
          </a:solidFill>
        </p:spPr>
      </p:sp>
      <p:sp>
        <p:nvSpPr>
          <p:cNvPr id="4" name="Shape 2"/>
          <p:cNvSpPr/>
          <p:nvPr/>
        </p:nvSpPr>
        <p:spPr>
          <a:xfrm>
            <a:off x="673150" y="1492523"/>
            <a:ext cx="448791" cy="448791"/>
          </a:xfrm>
          <a:prstGeom prst="ellipse">
            <a:avLst/>
          </a:prstGeom>
          <a:solidFill>
            <a:srgbClr val="6EB9FC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6528" y="1615901"/>
            <a:ext cx="201960" cy="201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3150" y="2090886"/>
            <a:ext cx="2300064" cy="2199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Patient Features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73150" y="2400598"/>
            <a:ext cx="2300064" cy="198960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User Registration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Secure Login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Search Doctors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View Doctor Profiles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Book Appointments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Patient Dashboard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Appointment History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272358" y="1342951"/>
            <a:ext cx="2599209" cy="3196828"/>
          </a:xfrm>
          <a:prstGeom prst="roundRect">
            <a:avLst>
              <a:gd name="adj" fmla="val 863"/>
            </a:avLst>
          </a:prstGeom>
          <a:solidFill>
            <a:srgbClr val="444752"/>
          </a:solidFill>
        </p:spPr>
      </p:sp>
      <p:sp>
        <p:nvSpPr>
          <p:cNvPr id="9" name="Shape 6"/>
          <p:cNvSpPr/>
          <p:nvPr/>
        </p:nvSpPr>
        <p:spPr>
          <a:xfrm>
            <a:off x="3421931" y="1492523"/>
            <a:ext cx="448791" cy="448791"/>
          </a:xfrm>
          <a:prstGeom prst="ellipse">
            <a:avLst/>
          </a:prstGeom>
          <a:solidFill>
            <a:srgbClr val="6EB9FC"/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45309" y="1615901"/>
            <a:ext cx="201960" cy="2019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21931" y="2090886"/>
            <a:ext cx="2300064" cy="2199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Website Features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421931" y="2400598"/>
            <a:ext cx="2300064" cy="111449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Responsive Homepage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About Us Page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Doctor Listings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Developer Information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021139" y="1342951"/>
            <a:ext cx="2599283" cy="3196828"/>
          </a:xfrm>
          <a:prstGeom prst="roundRect">
            <a:avLst>
              <a:gd name="adj" fmla="val 863"/>
            </a:avLst>
          </a:prstGeom>
          <a:solidFill>
            <a:srgbClr val="444752"/>
          </a:solidFill>
        </p:spPr>
      </p:sp>
      <p:sp>
        <p:nvSpPr>
          <p:cNvPr id="14" name="Shape 10"/>
          <p:cNvSpPr/>
          <p:nvPr/>
        </p:nvSpPr>
        <p:spPr>
          <a:xfrm>
            <a:off x="6170712" y="1492523"/>
            <a:ext cx="448791" cy="448791"/>
          </a:xfrm>
          <a:prstGeom prst="ellipse">
            <a:avLst/>
          </a:prstGeom>
          <a:solidFill>
            <a:srgbClr val="6EB9FC"/>
          </a:solidFill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94090" y="1615901"/>
            <a:ext cx="201960" cy="2019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70712" y="2090886"/>
            <a:ext cx="2300139" cy="2199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Security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170712" y="2400598"/>
            <a:ext cx="2300139" cy="53109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User Authentication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Protected Patient Data</a:t>
            </a:r>
            <a:endParaRPr lang="en-US" sz="1150" dirty="0"/>
          </a:p>
        </p:txBody>
      </p:sp>
      <p:sp>
        <p:nvSpPr>
          <p:cNvPr id="18" name="Rectangle 17"/>
          <p:cNvSpPr/>
          <p:nvPr/>
        </p:nvSpPr>
        <p:spPr>
          <a:xfrm>
            <a:off x="7926070" y="4789170"/>
            <a:ext cx="1227455" cy="354330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52577" y="832172"/>
            <a:ext cx="4667845" cy="35205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User Flow Overview</a:t>
            </a:r>
            <a:endParaRPr lang="en-US" sz="22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2577" y="1408584"/>
            <a:ext cx="4667845" cy="201624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66445" y="2986518"/>
            <a:ext cx="693091" cy="11872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Auth</a:t>
            </a:r>
            <a:endParaRPr lang="en-US" sz="700" dirty="0"/>
          </a:p>
        </p:txBody>
      </p:sp>
      <p:sp>
        <p:nvSpPr>
          <p:cNvPr id="6" name="Text 2"/>
          <p:cNvSpPr/>
          <p:nvPr/>
        </p:nvSpPr>
        <p:spPr>
          <a:xfrm>
            <a:off x="5066445" y="3141154"/>
            <a:ext cx="693091" cy="100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0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Login or Sign Up</a:t>
            </a:r>
            <a:endParaRPr lang="en-US" sz="600" dirty="0"/>
          </a:p>
        </p:txBody>
      </p:sp>
      <p:sp>
        <p:nvSpPr>
          <p:cNvPr id="7" name="Text 3"/>
          <p:cNvSpPr/>
          <p:nvPr/>
        </p:nvSpPr>
        <p:spPr>
          <a:xfrm>
            <a:off x="6846126" y="2986518"/>
            <a:ext cx="693092" cy="11872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Search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6846126" y="3141154"/>
            <a:ext cx="693092" cy="100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0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Find a Doctor</a:t>
            </a:r>
            <a:endParaRPr lang="en-US" sz="600" dirty="0"/>
          </a:p>
        </p:txBody>
      </p:sp>
      <p:sp>
        <p:nvSpPr>
          <p:cNvPr id="9" name="Text 5"/>
          <p:cNvSpPr/>
          <p:nvPr/>
        </p:nvSpPr>
        <p:spPr>
          <a:xfrm>
            <a:off x="4178814" y="1590517"/>
            <a:ext cx="693091" cy="1187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Start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4178814" y="1745153"/>
            <a:ext cx="693091" cy="100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0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Splash Screen</a:t>
            </a:r>
            <a:endParaRPr lang="en-US" sz="600" dirty="0"/>
          </a:p>
        </p:txBody>
      </p:sp>
      <p:sp>
        <p:nvSpPr>
          <p:cNvPr id="11" name="Text 7"/>
          <p:cNvSpPr/>
          <p:nvPr/>
        </p:nvSpPr>
        <p:spPr>
          <a:xfrm>
            <a:off x="7707318" y="1590517"/>
            <a:ext cx="693091" cy="1187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Book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7707318" y="1745153"/>
            <a:ext cx="693091" cy="20197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0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Appointment &amp; Confirm</a:t>
            </a:r>
            <a:endParaRPr lang="en-US" sz="600" dirty="0"/>
          </a:p>
        </p:txBody>
      </p:sp>
      <p:sp>
        <p:nvSpPr>
          <p:cNvPr id="13" name="Text 9"/>
          <p:cNvSpPr/>
          <p:nvPr/>
        </p:nvSpPr>
        <p:spPr>
          <a:xfrm>
            <a:off x="5967331" y="1590517"/>
            <a:ext cx="693091" cy="1187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Home</a:t>
            </a:r>
            <a:endParaRPr lang="en-US" sz="700" dirty="0"/>
          </a:p>
        </p:txBody>
      </p:sp>
      <p:sp>
        <p:nvSpPr>
          <p:cNvPr id="14" name="Text 10"/>
          <p:cNvSpPr/>
          <p:nvPr/>
        </p:nvSpPr>
        <p:spPr>
          <a:xfrm>
            <a:off x="5967331" y="1745153"/>
            <a:ext cx="693091" cy="100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0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Home Page</a:t>
            </a:r>
            <a:endParaRPr lang="en-US" sz="600" dirty="0"/>
          </a:p>
        </p:txBody>
      </p:sp>
      <p:sp>
        <p:nvSpPr>
          <p:cNvPr id="15" name="Text 11"/>
          <p:cNvSpPr/>
          <p:nvPr/>
        </p:nvSpPr>
        <p:spPr>
          <a:xfrm>
            <a:off x="3952577" y="3593083"/>
            <a:ext cx="4667845" cy="71817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This streamlined flow minimizes taps between discovery and booking, with checkpoints for authentication, doctor details, and confirmation to reduce errors and no-shows.</a:t>
            </a:r>
            <a:endParaRPr lang="en-US" sz="1150" dirty="0"/>
          </a:p>
        </p:txBody>
      </p:sp>
      <p:sp>
        <p:nvSpPr>
          <p:cNvPr id="16" name="Rectangle 15"/>
          <p:cNvSpPr/>
          <p:nvPr/>
        </p:nvSpPr>
        <p:spPr>
          <a:xfrm>
            <a:off x="7926070" y="4789170"/>
            <a:ext cx="1227455" cy="354330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" y="304800"/>
            <a:ext cx="3734435" cy="214693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" y="2948940"/>
            <a:ext cx="3728720" cy="200533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1575435" y="0"/>
            <a:ext cx="594995" cy="304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Mobile</a:t>
            </a:r>
            <a:endParaRPr lang="en-US" sz="1400" dirty="0">
              <a:solidFill>
                <a:srgbClr val="F98AC7"/>
              </a:solidFill>
              <a:latin typeface="Lora" pitchFamily="34" charset="0"/>
              <a:ea typeface="Lora" pitchFamily="34" charset="-122"/>
              <a:cs typeface="Lora" pitchFamily="34" charset="-120"/>
            </a:endParaRPr>
          </a:p>
        </p:txBody>
      </p:sp>
      <p:sp>
        <p:nvSpPr>
          <p:cNvPr id="21" name="Text 0"/>
          <p:cNvSpPr/>
          <p:nvPr/>
        </p:nvSpPr>
        <p:spPr>
          <a:xfrm>
            <a:off x="1513205" y="2681605"/>
            <a:ext cx="720090" cy="304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Desktop</a:t>
            </a:r>
            <a:endParaRPr lang="en-US" sz="1400" dirty="0">
              <a:solidFill>
                <a:srgbClr val="F98AC7"/>
              </a:solidFill>
              <a:latin typeface="Lora" pitchFamily="34" charset="0"/>
              <a:ea typeface="Lora" pitchFamily="34" charset="-122"/>
              <a:cs typeface="Lora" pitchFamily="3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52577" y="986284"/>
            <a:ext cx="4667845" cy="88002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UI Storyboard – Splash Screen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52577" y="2090663"/>
            <a:ext cx="5125045" cy="2393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The Splash Screen is the first screen displayed when the application starts.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3952577" y="2554412"/>
            <a:ext cx="4667845" cy="2639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Purpose: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3952577" y="3042717"/>
            <a:ext cx="4667845" cy="111449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Displays the application logo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Builds brand identity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Initializes application resources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Redirects users to Login Screen</a:t>
            </a:r>
            <a:endParaRPr lang="en-US" sz="1150" dirty="0"/>
          </a:p>
        </p:txBody>
      </p:sp>
      <p:sp>
        <p:nvSpPr>
          <p:cNvPr id="8" name="Rectangle 7"/>
          <p:cNvSpPr/>
          <p:nvPr/>
        </p:nvSpPr>
        <p:spPr>
          <a:xfrm>
            <a:off x="7926070" y="4789170"/>
            <a:ext cx="1227455" cy="354330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rcRect b="69469"/>
          <a:stretch>
            <a:fillRect/>
          </a:stretch>
        </p:blipFill>
        <p:spPr>
          <a:xfrm>
            <a:off x="0" y="0"/>
            <a:ext cx="2914015" cy="167449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rcRect t="34411" b="34988"/>
          <a:stretch>
            <a:fillRect/>
          </a:stretch>
        </p:blipFill>
        <p:spPr>
          <a:xfrm>
            <a:off x="16510" y="1731010"/>
            <a:ext cx="2897505" cy="166878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rcRect t="69778"/>
          <a:stretch>
            <a:fillRect/>
          </a:stretch>
        </p:blipFill>
        <p:spPr>
          <a:xfrm>
            <a:off x="0" y="3486150"/>
            <a:ext cx="2927350" cy="16649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12989" y="350689"/>
            <a:ext cx="4712122" cy="35205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Login &amp; Sign Up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912989" y="804689"/>
            <a:ext cx="4712122" cy="4787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Secure, minimal authentication flows reduce friction while protecting patient data.</a:t>
            </a:r>
            <a:endParaRPr lang="en-US" sz="1150" dirty="0"/>
          </a:p>
        </p:txBody>
      </p:sp>
      <p:grpSp>
        <p:nvGrpSpPr>
          <p:cNvPr id="17" name="Group 16"/>
          <p:cNvGrpSpPr/>
          <p:nvPr/>
        </p:nvGrpSpPr>
        <p:grpSpPr>
          <a:xfrm>
            <a:off x="3912870" y="1364615"/>
            <a:ext cx="4711700" cy="1196340"/>
            <a:chOff x="6162" y="2761"/>
            <a:chExt cx="7420" cy="1884"/>
          </a:xfrm>
        </p:grpSpPr>
        <p:sp>
          <p:nvSpPr>
            <p:cNvPr id="5" name="Text 2"/>
            <p:cNvSpPr/>
            <p:nvPr/>
          </p:nvSpPr>
          <p:spPr>
            <a:xfrm>
              <a:off x="6162" y="2761"/>
              <a:ext cx="471" cy="294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150" dirty="0">
                  <a:solidFill>
                    <a:srgbClr val="D6E5EF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01</a:t>
              </a:r>
              <a:endParaRPr lang="en-US" sz="1150" dirty="0"/>
            </a:p>
          </p:txBody>
        </p:sp>
        <p:sp>
          <p:nvSpPr>
            <p:cNvPr id="6" name="Shape 3"/>
            <p:cNvSpPr/>
            <p:nvPr/>
          </p:nvSpPr>
          <p:spPr>
            <a:xfrm>
              <a:off x="6162" y="3132"/>
              <a:ext cx="7421" cy="30"/>
            </a:xfrm>
            <a:prstGeom prst="rect">
              <a:avLst/>
            </a:prstGeom>
            <a:solidFill>
              <a:srgbClr val="6EB9FC"/>
            </a:solidFill>
          </p:spPr>
        </p:sp>
        <p:sp>
          <p:nvSpPr>
            <p:cNvPr id="7" name="Text 4"/>
            <p:cNvSpPr/>
            <p:nvPr/>
          </p:nvSpPr>
          <p:spPr>
            <a:xfrm>
              <a:off x="6162" y="3309"/>
              <a:ext cx="7421" cy="346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350" dirty="0">
                  <a:solidFill>
                    <a:srgbClr val="D6E5EF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Login</a:t>
              </a:r>
              <a:endParaRPr lang="en-US" sz="135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6162" y="3891"/>
              <a:ext cx="7421" cy="75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150" dirty="0">
                  <a:solidFill>
                    <a:srgbClr val="D6E5EF"/>
                  </a:solidFill>
                  <a:latin typeface="Source Sans 3" panose="020B0303030403020204" pitchFamily="34" charset="0"/>
                  <a:ea typeface="Source Sans 3" panose="020B0303030403020204" pitchFamily="34" charset="-122"/>
                  <a:cs typeface="Source Sans 3" panose="020B0303030403020204" pitchFamily="34" charset="-120"/>
                </a:rPr>
                <a:t>Email, password, validation, forgot password flow, and 2FA option for sensitive actions.</a:t>
              </a:r>
              <a:endParaRPr lang="en-US" sz="1150" dirty="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369570" y="3592195"/>
            <a:ext cx="4711700" cy="1196975"/>
            <a:chOff x="6162" y="5057"/>
            <a:chExt cx="7420" cy="1885"/>
          </a:xfrm>
        </p:grpSpPr>
        <p:sp>
          <p:nvSpPr>
            <p:cNvPr id="9" name="Text 6"/>
            <p:cNvSpPr/>
            <p:nvPr/>
          </p:nvSpPr>
          <p:spPr>
            <a:xfrm>
              <a:off x="6162" y="5057"/>
              <a:ext cx="471" cy="294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150" dirty="0">
                  <a:solidFill>
                    <a:srgbClr val="D6E5EF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02</a:t>
              </a:r>
              <a:endParaRPr lang="en-US" sz="1150" dirty="0"/>
            </a:p>
          </p:txBody>
        </p:sp>
        <p:sp>
          <p:nvSpPr>
            <p:cNvPr id="10" name="Shape 7"/>
            <p:cNvSpPr/>
            <p:nvPr/>
          </p:nvSpPr>
          <p:spPr>
            <a:xfrm>
              <a:off x="6162" y="5404"/>
              <a:ext cx="7421" cy="30"/>
            </a:xfrm>
            <a:prstGeom prst="rect">
              <a:avLst/>
            </a:prstGeom>
            <a:solidFill>
              <a:srgbClr val="6EB9FC"/>
            </a:solidFill>
          </p:spPr>
        </p:sp>
        <p:sp>
          <p:nvSpPr>
            <p:cNvPr id="11" name="Text 8"/>
            <p:cNvSpPr/>
            <p:nvPr/>
          </p:nvSpPr>
          <p:spPr>
            <a:xfrm>
              <a:off x="6162" y="5606"/>
              <a:ext cx="7421" cy="346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350" dirty="0">
                  <a:solidFill>
                    <a:srgbClr val="D6E5EF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Sign Up</a:t>
              </a:r>
              <a:endParaRPr lang="en-US" sz="135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6162" y="6188"/>
              <a:ext cx="7421" cy="75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150" dirty="0">
                  <a:solidFill>
                    <a:srgbClr val="D6E5EF"/>
                  </a:solidFill>
                  <a:latin typeface="Source Sans 3" panose="020B0303030403020204" pitchFamily="34" charset="0"/>
                  <a:ea typeface="Source Sans 3" panose="020B0303030403020204" pitchFamily="34" charset="-122"/>
                  <a:cs typeface="Source Sans 3" panose="020B0303030403020204" pitchFamily="34" charset="-120"/>
                </a:rPr>
                <a:t>Collect name, email, phone, password, and basic medical profile. Progressive disclosure keeps the form short.</a:t>
              </a:r>
              <a:endParaRPr lang="en-US" sz="1150" dirty="0"/>
            </a:p>
          </p:txBody>
        </p:sp>
      </p:grpSp>
      <p:sp>
        <p:nvSpPr>
          <p:cNvPr id="13" name="Rectangle 12"/>
          <p:cNvSpPr/>
          <p:nvPr/>
        </p:nvSpPr>
        <p:spPr>
          <a:xfrm>
            <a:off x="7926070" y="4789170"/>
            <a:ext cx="1227455" cy="354330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14" name="Picture 13" descr="Screenshot 2026-08-06 2351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9570" y="459740"/>
            <a:ext cx="3259455" cy="2601595"/>
          </a:xfrm>
          <a:prstGeom prst="rect">
            <a:avLst/>
          </a:prstGeom>
        </p:spPr>
      </p:pic>
      <p:pic>
        <p:nvPicPr>
          <p:cNvPr id="15" name="Picture 14" descr="Screenshot 2026-08-06 2349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0520" y="2400935"/>
            <a:ext cx="3194685" cy="25361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716280" y="1726565"/>
            <a:ext cx="4667250" cy="1690370"/>
            <a:chOff x="825" y="1926"/>
            <a:chExt cx="7350" cy="2662"/>
          </a:xfrm>
        </p:grpSpPr>
        <p:sp>
          <p:nvSpPr>
            <p:cNvPr id="3" name="Text 0"/>
            <p:cNvSpPr/>
            <p:nvPr/>
          </p:nvSpPr>
          <p:spPr>
            <a:xfrm>
              <a:off x="825" y="1926"/>
              <a:ext cx="7351" cy="554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2200" dirty="0">
                  <a:solidFill>
                    <a:srgbClr val="F98AC7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Home Page — Design Highlights</a:t>
              </a:r>
              <a:endParaRPr lang="en-US" sz="2200" dirty="0"/>
            </a:p>
          </p:txBody>
        </p:sp>
        <p:sp>
          <p:nvSpPr>
            <p:cNvPr id="4" name="Text 1"/>
            <p:cNvSpPr/>
            <p:nvPr/>
          </p:nvSpPr>
          <p:spPr>
            <a:xfrm>
              <a:off x="825" y="2834"/>
              <a:ext cx="7351" cy="175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233680" indent="-233680" algn="l">
                <a:lnSpc>
                  <a:spcPct val="133000"/>
                </a:lnSpc>
                <a:buSzPct val="100000"/>
                <a:buChar char="•"/>
              </a:pPr>
              <a:r>
                <a:rPr lang="en-US" sz="1150" dirty="0">
                  <a:solidFill>
                    <a:srgbClr val="D6E5EF"/>
                  </a:solidFill>
                  <a:latin typeface="Source Sans 3" panose="020B0303030403020204" pitchFamily="34" charset="0"/>
                  <a:ea typeface="Source Sans 3" panose="020B0303030403020204" pitchFamily="34" charset="-122"/>
                  <a:cs typeface="Source Sans 3" panose="020B0303030403020204" pitchFamily="34" charset="-120"/>
                </a:rPr>
                <a:t>Prominent Search Bar to find doctors by name, specialty, or location</a:t>
              </a:r>
              <a:endParaRPr lang="en-US" sz="1150" dirty="0"/>
            </a:p>
            <a:p>
              <a:pPr marL="233680" indent="-233680" algn="l">
                <a:lnSpc>
                  <a:spcPct val="133000"/>
                </a:lnSpc>
                <a:buSzPct val="100000"/>
                <a:buChar char="•"/>
              </a:pPr>
              <a:r>
                <a:rPr lang="en-US" sz="1150" dirty="0">
                  <a:solidFill>
                    <a:srgbClr val="D6E5EF"/>
                  </a:solidFill>
                  <a:latin typeface="Source Sans 3" panose="020B0303030403020204" pitchFamily="34" charset="0"/>
                  <a:ea typeface="Source Sans 3" panose="020B0303030403020204" pitchFamily="34" charset="-122"/>
                  <a:cs typeface="Source Sans 3" panose="020B0303030403020204" pitchFamily="34" charset="-120"/>
                </a:rPr>
                <a:t>Featured Doctors &amp; Services cards with CTAs to book or view profile</a:t>
              </a:r>
              <a:endParaRPr lang="en-US" sz="1150" dirty="0"/>
            </a:p>
            <a:p>
              <a:pPr marL="233680" indent="-233680" algn="l">
                <a:lnSpc>
                  <a:spcPct val="133000"/>
                </a:lnSpc>
                <a:buSzPct val="100000"/>
                <a:buChar char="•"/>
              </a:pPr>
              <a:r>
                <a:rPr lang="en-US" sz="1150" dirty="0">
                  <a:solidFill>
                    <a:srgbClr val="D6E5EF"/>
                  </a:solidFill>
                  <a:latin typeface="Source Sans 3" panose="020B0303030403020204" pitchFamily="34" charset="0"/>
                  <a:ea typeface="Source Sans 3" panose="020B0303030403020204" pitchFamily="34" charset="-122"/>
                  <a:cs typeface="Source Sans 3" panose="020B0303030403020204" pitchFamily="34" charset="-120"/>
                </a:rPr>
                <a:t>Quick access to Patient Dashboard, Appointment History, and Support</a:t>
              </a:r>
              <a:endParaRPr lang="en-US" sz="1150" dirty="0"/>
            </a:p>
            <a:p>
              <a:pPr marL="233680" indent="-233680" algn="l">
                <a:lnSpc>
                  <a:spcPct val="133000"/>
                </a:lnSpc>
                <a:buSzPct val="100000"/>
                <a:buChar char="•"/>
              </a:pPr>
              <a:r>
                <a:rPr lang="en-US" sz="1150" dirty="0">
                  <a:solidFill>
                    <a:srgbClr val="D6E5EF"/>
                  </a:solidFill>
                  <a:latin typeface="Source Sans 3" panose="020B0303030403020204" pitchFamily="34" charset="0"/>
                  <a:ea typeface="Source Sans 3" panose="020B0303030403020204" pitchFamily="34" charset="-122"/>
                  <a:cs typeface="Source Sans 3" panose="020B0303030403020204" pitchFamily="34" charset="-120"/>
                </a:rPr>
                <a:t>Responsive layout ensures consistent experience across devices</a:t>
              </a:r>
              <a:endParaRPr lang="en-US" sz="1150" dirty="0"/>
            </a:p>
          </p:txBody>
        </p:sp>
      </p:grpSp>
      <p:pic>
        <p:nvPicPr>
          <p:cNvPr id="8" name="Picture 7" descr="Screenshot 2026-08-06 2352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6360" y="0"/>
            <a:ext cx="270764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3577" y="413147"/>
            <a:ext cx="4667845" cy="3093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UI Storyboard – About Us</a:t>
            </a:r>
            <a:endParaRPr lang="en-US" sz="1900" dirty="0"/>
          </a:p>
        </p:txBody>
      </p:sp>
      <p:sp>
        <p:nvSpPr>
          <p:cNvPr id="4" name="Text 1"/>
          <p:cNvSpPr/>
          <p:nvPr/>
        </p:nvSpPr>
        <p:spPr>
          <a:xfrm>
            <a:off x="523577" y="833363"/>
            <a:ext cx="5125045" cy="1433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The About Us page provides information about the organization.</a:t>
            </a:r>
            <a:endParaRPr lang="en-US" sz="800" dirty="0"/>
          </a:p>
        </p:txBody>
      </p:sp>
      <p:grpSp>
        <p:nvGrpSpPr>
          <p:cNvPr id="25" name="Group 24"/>
          <p:cNvGrpSpPr/>
          <p:nvPr/>
        </p:nvGrpSpPr>
        <p:grpSpPr>
          <a:xfrm>
            <a:off x="523875" y="1059815"/>
            <a:ext cx="2922270" cy="1214120"/>
            <a:chOff x="825" y="1669"/>
            <a:chExt cx="7266" cy="1128"/>
          </a:xfrm>
        </p:grpSpPr>
        <p:pic>
          <p:nvPicPr>
            <p:cNvPr id="5" name="Image 1" descr="preencoded.png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25" y="1669"/>
              <a:ext cx="7267" cy="1128"/>
            </a:xfrm>
            <a:prstGeom prst="rect">
              <a:avLst/>
            </a:prstGeom>
          </p:spPr>
        </p:pic>
        <p:sp>
          <p:nvSpPr>
            <p:cNvPr id="6" name="Text 2"/>
            <p:cNvSpPr/>
            <p:nvPr/>
          </p:nvSpPr>
          <p:spPr>
            <a:xfrm>
              <a:off x="1103" y="1857"/>
              <a:ext cx="6885" cy="244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950" dirty="0">
                  <a:solidFill>
                    <a:srgbClr val="D6E5EF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Mission</a:t>
              </a:r>
              <a:endParaRPr lang="en-US" sz="950" dirty="0"/>
            </a:p>
          </p:txBody>
        </p:sp>
        <p:sp>
          <p:nvSpPr>
            <p:cNvPr id="7" name="Text 3"/>
            <p:cNvSpPr/>
            <p:nvPr/>
          </p:nvSpPr>
          <p:spPr>
            <a:xfrm>
              <a:off x="1103" y="2171"/>
              <a:ext cx="6885" cy="45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14000"/>
                </a:lnSpc>
                <a:buNone/>
              </a:pPr>
              <a:r>
                <a:rPr lang="en-US" sz="800" dirty="0">
                  <a:solidFill>
                    <a:srgbClr val="D6E5EF"/>
                  </a:solidFill>
                  <a:latin typeface="Source Sans 3" panose="020B0303030403020204" pitchFamily="34" charset="0"/>
                  <a:ea typeface="Source Sans 3" panose="020B0303030403020204" pitchFamily="34" charset="-122"/>
                  <a:cs typeface="Source Sans 3" panose="020B0303030403020204" pitchFamily="34" charset="-120"/>
                </a:rPr>
                <a:t>To empower individuals with effortless access to quality healthcare, fostering a healthier community through technology and compassionate service.</a:t>
              </a:r>
              <a:endParaRPr lang="en-US" sz="800" dirty="0"/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3548380" y="1062990"/>
            <a:ext cx="2926080" cy="1216152"/>
            <a:chOff x="825" y="2926"/>
            <a:chExt cx="7350" cy="1140"/>
          </a:xfrm>
        </p:grpSpPr>
        <p:pic>
          <p:nvPicPr>
            <p:cNvPr id="8" name="Image 2" descr="preencoded.png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25" y="2926"/>
              <a:ext cx="7351" cy="1141"/>
            </a:xfrm>
            <a:prstGeom prst="rect">
              <a:avLst/>
            </a:prstGeom>
          </p:spPr>
        </p:pic>
        <p:sp>
          <p:nvSpPr>
            <p:cNvPr id="9" name="Text 4"/>
            <p:cNvSpPr/>
            <p:nvPr/>
          </p:nvSpPr>
          <p:spPr>
            <a:xfrm>
              <a:off x="1103" y="3114"/>
              <a:ext cx="6885" cy="244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950" dirty="0">
                  <a:solidFill>
                    <a:srgbClr val="D6E5EF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Vision</a:t>
              </a:r>
              <a:endParaRPr lang="en-US" sz="950" dirty="0"/>
            </a:p>
          </p:txBody>
        </p:sp>
        <p:sp>
          <p:nvSpPr>
            <p:cNvPr id="10" name="Text 5"/>
            <p:cNvSpPr/>
            <p:nvPr/>
          </p:nvSpPr>
          <p:spPr>
            <a:xfrm>
              <a:off x="1103" y="3428"/>
              <a:ext cx="6885" cy="45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 lnSpcReduction="20000"/>
            </a:bodyPr>
            <a:lstStyle/>
            <a:p>
              <a:pPr marL="0" indent="0" algn="l">
                <a:lnSpc>
                  <a:spcPct val="114000"/>
                </a:lnSpc>
                <a:buNone/>
              </a:pPr>
              <a:r>
                <a:rPr lang="en-US" sz="800" dirty="0">
                  <a:solidFill>
                    <a:srgbClr val="D6E5EF"/>
                  </a:solidFill>
                  <a:latin typeface="Source Sans 3" panose="020B0303030403020204" pitchFamily="34" charset="0"/>
                  <a:ea typeface="Source Sans 3" panose="020B0303030403020204" pitchFamily="34" charset="-122"/>
                  <a:cs typeface="Source Sans 3" panose="020B0303030403020204" pitchFamily="34" charset="-120"/>
                </a:rPr>
                <a:t>To be the leading digital health platform, recognized for innovation, reliability, and enhancing patient-provider connections globally.</a:t>
              </a:r>
              <a:endParaRPr lang="en-US" sz="800" dirty="0"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2721610" y="3153410"/>
            <a:ext cx="2926080" cy="1216152"/>
            <a:chOff x="6455" y="4827"/>
            <a:chExt cx="7350" cy="1140"/>
          </a:xfrm>
        </p:grpSpPr>
        <p:pic>
          <p:nvPicPr>
            <p:cNvPr id="11" name="Image 3" descr="preencoded.png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455" y="4827"/>
              <a:ext cx="7351" cy="1141"/>
            </a:xfrm>
            <a:prstGeom prst="rect">
              <a:avLst/>
            </a:prstGeom>
          </p:spPr>
        </p:pic>
        <p:sp>
          <p:nvSpPr>
            <p:cNvPr id="12" name="Text 6"/>
            <p:cNvSpPr/>
            <p:nvPr/>
          </p:nvSpPr>
          <p:spPr>
            <a:xfrm>
              <a:off x="6733" y="5015"/>
              <a:ext cx="6885" cy="244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950" dirty="0">
                  <a:solidFill>
                    <a:srgbClr val="D6E5EF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Healthcare Goals</a:t>
              </a:r>
              <a:endParaRPr lang="en-US" sz="950" dirty="0"/>
            </a:p>
          </p:txBody>
        </p:sp>
        <p:sp>
          <p:nvSpPr>
            <p:cNvPr id="13" name="Text 7"/>
            <p:cNvSpPr/>
            <p:nvPr/>
          </p:nvSpPr>
          <p:spPr>
            <a:xfrm>
              <a:off x="6733" y="5328"/>
              <a:ext cx="6885" cy="45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14000"/>
                </a:lnSpc>
                <a:buNone/>
              </a:pPr>
              <a:r>
                <a:rPr lang="en-US" sz="800" dirty="0">
                  <a:solidFill>
                    <a:srgbClr val="D6E5EF"/>
                  </a:solidFill>
                  <a:latin typeface="Source Sans 3" panose="020B0303030403020204" pitchFamily="34" charset="0"/>
                  <a:ea typeface="Source Sans 3" panose="020B0303030403020204" pitchFamily="34" charset="-122"/>
                  <a:cs typeface="Source Sans 3" panose="020B0303030403020204" pitchFamily="34" charset="-120"/>
                </a:rPr>
                <a:t>Reduce wait times, centralize medical records, improve communication, and simplify appointment booking for all users.</a:t>
              </a:r>
              <a:endParaRPr lang="en-US" sz="800" dirty="0"/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5720080" y="3153410"/>
            <a:ext cx="2926080" cy="1216152"/>
            <a:chOff x="6455" y="6084"/>
            <a:chExt cx="7350" cy="1140"/>
          </a:xfrm>
        </p:grpSpPr>
        <p:pic>
          <p:nvPicPr>
            <p:cNvPr id="14" name="Image 4" descr="preencoded.png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455" y="6084"/>
              <a:ext cx="7351" cy="1141"/>
            </a:xfrm>
            <a:prstGeom prst="rect">
              <a:avLst/>
            </a:prstGeom>
          </p:spPr>
        </p:pic>
        <p:sp>
          <p:nvSpPr>
            <p:cNvPr id="15" name="Text 8"/>
            <p:cNvSpPr/>
            <p:nvPr/>
          </p:nvSpPr>
          <p:spPr>
            <a:xfrm>
              <a:off x="6733" y="6272"/>
              <a:ext cx="6885" cy="244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950" dirty="0">
                  <a:solidFill>
                    <a:srgbClr val="D6E5EF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Team Information</a:t>
              </a:r>
              <a:endParaRPr lang="en-US" sz="950" dirty="0"/>
            </a:p>
          </p:txBody>
        </p:sp>
        <p:sp>
          <p:nvSpPr>
            <p:cNvPr id="16" name="Text 9"/>
            <p:cNvSpPr/>
            <p:nvPr/>
          </p:nvSpPr>
          <p:spPr>
            <a:xfrm>
              <a:off x="6733" y="6585"/>
              <a:ext cx="6885" cy="45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14000"/>
                </a:lnSpc>
                <a:buNone/>
              </a:pPr>
              <a:r>
                <a:rPr lang="en-US" sz="800" dirty="0">
                  <a:solidFill>
                    <a:srgbClr val="D6E5EF"/>
                  </a:solidFill>
                  <a:latin typeface="Source Sans 3" panose="020B0303030403020204" pitchFamily="34" charset="0"/>
                  <a:ea typeface="Source Sans 3" panose="020B0303030403020204" pitchFamily="34" charset="-122"/>
                  <a:cs typeface="Source Sans 3" panose="020B0303030403020204" pitchFamily="34" charset="-120"/>
                </a:rPr>
                <a:t>Highlighting the dedicated team of developers, designers, and healthcare experts driving the platform's success.</a:t>
              </a:r>
              <a:endParaRPr lang="en-US" sz="800" dirty="0"/>
            </a:p>
          </p:txBody>
        </p:sp>
      </p:grpSp>
      <p:sp>
        <p:nvSpPr>
          <p:cNvPr id="17" name="Text 10"/>
          <p:cNvSpPr/>
          <p:nvPr/>
        </p:nvSpPr>
        <p:spPr>
          <a:xfrm>
            <a:off x="2721312" y="4566007"/>
            <a:ext cx="4667845" cy="1856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Purpose:</a:t>
            </a:r>
            <a:endParaRPr lang="en-US" sz="1150" dirty="0"/>
          </a:p>
        </p:txBody>
      </p:sp>
      <p:sp>
        <p:nvSpPr>
          <p:cNvPr id="18" name="Text 11"/>
          <p:cNvSpPr/>
          <p:nvPr/>
        </p:nvSpPr>
        <p:spPr>
          <a:xfrm>
            <a:off x="2721312" y="4814287"/>
            <a:ext cx="5125045" cy="1433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Build trust with users</a:t>
            </a:r>
            <a:endParaRPr lang="en-US" sz="8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1790" y="493395"/>
            <a:ext cx="1945005" cy="258318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5275" y="4860290"/>
            <a:ext cx="1228725" cy="36195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2357120"/>
            <a:ext cx="1993265" cy="26015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52577" y="415677"/>
            <a:ext cx="4667845" cy="86632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UI Storyboard – Search Doctor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3952577" y="1499443"/>
            <a:ext cx="5125045" cy="2337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Allows patients to search doctors based on their needs.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3952577" y="1950616"/>
            <a:ext cx="4667845" cy="2598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Features: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952577" y="2427908"/>
            <a:ext cx="4667845" cy="137137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Doctor List</a:t>
            </a:r>
            <a:endParaRPr lang="en-US" sz="1150" dirty="0"/>
          </a:p>
          <a:p>
            <a:pPr marL="233680" indent="-233680" algn="l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Search Bar</a:t>
            </a:r>
            <a:endParaRPr lang="en-US" sz="1150" dirty="0"/>
          </a:p>
          <a:p>
            <a:pPr marL="233680" indent="-233680" algn="l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Filter Options</a:t>
            </a:r>
            <a:endParaRPr lang="en-US" sz="1150" dirty="0"/>
          </a:p>
          <a:p>
            <a:pPr marL="233680" indent="-233680" algn="l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Specialization</a:t>
            </a:r>
            <a:endParaRPr lang="en-US" sz="1150" dirty="0"/>
          </a:p>
          <a:p>
            <a:pPr marL="233680" indent="-233680" algn="l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Availability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952577" y="4016722"/>
            <a:ext cx="4667845" cy="2598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Purpose: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952577" y="4494014"/>
            <a:ext cx="5125045" cy="2337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233680" indent="-233680" algn="l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Makes finding the right doctor simple and fast</a:t>
            </a:r>
            <a:endParaRPr lang="en-US" sz="1150" dirty="0"/>
          </a:p>
        </p:txBody>
      </p:sp>
      <p:sp>
        <p:nvSpPr>
          <p:cNvPr id="9" name="Rectangle 8"/>
          <p:cNvSpPr/>
          <p:nvPr/>
        </p:nvSpPr>
        <p:spPr>
          <a:xfrm>
            <a:off x="7926070" y="4789170"/>
            <a:ext cx="1227455" cy="354330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10" name="Picture 9" descr="Screenshot 2026-08-06 2354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" y="140970"/>
            <a:ext cx="3622040" cy="48787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3577" y="561529"/>
            <a:ext cx="4667845" cy="4056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UI Storyboard – Doctor Profile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523577" y="1157883"/>
            <a:ext cx="5125045" cy="2119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Displays detailed information about a selected doctor.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23577" y="1560537"/>
            <a:ext cx="4667845" cy="2434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Information Includes: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23577" y="1994669"/>
            <a:ext cx="4667845" cy="175051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Doctor Photo</a:t>
            </a:r>
            <a:endParaRPr lang="en-US" sz="1050" dirty="0"/>
          </a:p>
          <a:p>
            <a:pPr marL="213360" indent="-213360" algn="l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Qualification</a:t>
            </a:r>
            <a:endParaRPr lang="en-US" sz="1050" dirty="0"/>
          </a:p>
          <a:p>
            <a:pPr marL="213360" indent="-213360" algn="l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Experience</a:t>
            </a:r>
            <a:endParaRPr lang="en-US" sz="1050" dirty="0"/>
          </a:p>
          <a:p>
            <a:pPr marL="213360" indent="-213360" algn="l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Specialization</a:t>
            </a:r>
            <a:endParaRPr lang="en-US" sz="1050" dirty="0"/>
          </a:p>
          <a:p>
            <a:pPr marL="213360" indent="-213360" algn="l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Ratings</a:t>
            </a:r>
            <a:endParaRPr lang="en-US" sz="1050" dirty="0"/>
          </a:p>
          <a:p>
            <a:pPr marL="213360" indent="-213360" algn="l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Availability</a:t>
            </a:r>
            <a:endParaRPr lang="en-US" sz="1050" dirty="0"/>
          </a:p>
          <a:p>
            <a:pPr marL="213360" indent="-213360" algn="l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Book Appointment Button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23577" y="3935909"/>
            <a:ext cx="4667845" cy="2434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Purpose: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23577" y="4370040"/>
            <a:ext cx="5125045" cy="2119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213360" indent="-213360" algn="l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Helps patients make informed decisions</a:t>
            </a:r>
            <a:endParaRPr lang="en-US" sz="1050" dirty="0"/>
          </a:p>
        </p:txBody>
      </p:sp>
      <p:sp>
        <p:nvSpPr>
          <p:cNvPr id="10" name="Rectangle 9"/>
          <p:cNvSpPr/>
          <p:nvPr/>
        </p:nvSpPr>
        <p:spPr>
          <a:xfrm>
            <a:off x="7926070" y="4789170"/>
            <a:ext cx="1227455" cy="354330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9" name="Picture 8" descr="Screenshot 2026-08-06 2354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4340" y="130175"/>
            <a:ext cx="3526790" cy="48831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4274086" y="1586151"/>
            <a:ext cx="3865959" cy="183267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Welcome panel with quick actions: Book, Cancel, Reschedule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Upcoming &amp; past appointments with doctor details and status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Centralized medical records: reports, prescriptions, and visit history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Notifications and secure messaging with providers</a:t>
            </a:r>
            <a:endParaRPr lang="en-US" sz="1150" dirty="0"/>
          </a:p>
        </p:txBody>
      </p:sp>
      <p:sp>
        <p:nvSpPr>
          <p:cNvPr id="8" name="Rectangle 7"/>
          <p:cNvSpPr/>
          <p:nvPr/>
        </p:nvSpPr>
        <p:spPr>
          <a:xfrm>
            <a:off x="7926070" y="4789170"/>
            <a:ext cx="1227455" cy="354330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10" name="Picture 9" descr="Screenshot 2026-08-07 0900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080" y="124460"/>
            <a:ext cx="3776980" cy="4886325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4273887" y="521052"/>
            <a:ext cx="4667845" cy="88002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UI Storyboard – Patient Dashboard (Overview)</a:t>
            </a:r>
            <a:endParaRPr lang="en-US" sz="2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476885" y="582930"/>
            <a:ext cx="3939540" cy="4121785"/>
            <a:chOff x="6225" y="804"/>
            <a:chExt cx="8070" cy="6491"/>
          </a:xfrm>
        </p:grpSpPr>
        <p:sp>
          <p:nvSpPr>
            <p:cNvPr id="3" name="Text 0"/>
            <p:cNvSpPr/>
            <p:nvPr/>
          </p:nvSpPr>
          <p:spPr>
            <a:xfrm>
              <a:off x="6225" y="804"/>
              <a:ext cx="7351" cy="138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 fontScale="80000"/>
            </a:bodyPr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2750" dirty="0">
                  <a:solidFill>
                    <a:srgbClr val="F98AC7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UI Storyboard – Patient Dashboard (Appointments)</a:t>
              </a:r>
              <a:endParaRPr lang="en-US" sz="2750" dirty="0"/>
            </a:p>
          </p:txBody>
        </p:sp>
        <p:sp>
          <p:nvSpPr>
            <p:cNvPr id="4" name="Text 1"/>
            <p:cNvSpPr/>
            <p:nvPr/>
          </p:nvSpPr>
          <p:spPr>
            <a:xfrm>
              <a:off x="6225" y="2543"/>
              <a:ext cx="8071" cy="377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150" dirty="0">
                  <a:solidFill>
                    <a:srgbClr val="D6E5EF"/>
                  </a:solidFill>
                  <a:latin typeface="Source Sans 3" panose="020B0303030403020204" pitchFamily="34" charset="0"/>
                  <a:ea typeface="Source Sans 3" panose="020B0303030403020204" pitchFamily="34" charset="-122"/>
                  <a:cs typeface="Source Sans 3" panose="020B0303030403020204" pitchFamily="34" charset="-120"/>
                </a:rPr>
                <a:t>Displays appointment information.</a:t>
              </a:r>
              <a:endParaRPr lang="en-US" sz="1150" dirty="0"/>
            </a:p>
          </p:txBody>
        </p:sp>
        <p:sp>
          <p:nvSpPr>
            <p:cNvPr id="5" name="Text 2"/>
            <p:cNvSpPr/>
            <p:nvPr/>
          </p:nvSpPr>
          <p:spPr>
            <a:xfrm>
              <a:off x="6225" y="3273"/>
              <a:ext cx="7351" cy="416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650" dirty="0">
                  <a:solidFill>
                    <a:srgbClr val="F98AC7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Features:</a:t>
              </a:r>
              <a:endParaRPr lang="en-US" sz="165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6225" y="4042"/>
              <a:ext cx="7351" cy="175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233680" indent="-233680" algn="l">
                <a:lnSpc>
                  <a:spcPct val="133000"/>
                </a:lnSpc>
                <a:buSzPct val="100000"/>
                <a:buChar char="•"/>
              </a:pPr>
              <a:r>
                <a:rPr lang="en-US" sz="1150" dirty="0">
                  <a:solidFill>
                    <a:srgbClr val="D6E5EF"/>
                  </a:solidFill>
                  <a:latin typeface="Source Sans 3" panose="020B0303030403020204" pitchFamily="34" charset="0"/>
                  <a:ea typeface="Source Sans 3" panose="020B0303030403020204" pitchFamily="34" charset="-122"/>
                  <a:cs typeface="Source Sans 3" panose="020B0303030403020204" pitchFamily="34" charset="-120"/>
                </a:rPr>
                <a:t>Upcoming Appointments</a:t>
              </a:r>
              <a:endParaRPr lang="en-US" sz="1150" dirty="0"/>
            </a:p>
            <a:p>
              <a:pPr marL="233680" indent="-233680" algn="l">
                <a:lnSpc>
                  <a:spcPct val="133000"/>
                </a:lnSpc>
                <a:buSzPct val="100000"/>
                <a:buChar char="•"/>
              </a:pPr>
              <a:r>
                <a:rPr lang="en-US" sz="1150" dirty="0">
                  <a:solidFill>
                    <a:srgbClr val="D6E5EF"/>
                  </a:solidFill>
                  <a:latin typeface="Source Sans 3" panose="020B0303030403020204" pitchFamily="34" charset="0"/>
                  <a:ea typeface="Source Sans 3" panose="020B0303030403020204" pitchFamily="34" charset="-122"/>
                  <a:cs typeface="Source Sans 3" panose="020B0303030403020204" pitchFamily="34" charset="-120"/>
                </a:rPr>
                <a:t>Previous Appointments</a:t>
              </a:r>
              <a:endParaRPr lang="en-US" sz="1150" dirty="0"/>
            </a:p>
            <a:p>
              <a:pPr marL="233680" indent="-233680" algn="l">
                <a:lnSpc>
                  <a:spcPct val="133000"/>
                </a:lnSpc>
                <a:buSzPct val="100000"/>
                <a:buChar char="•"/>
              </a:pPr>
              <a:r>
                <a:rPr lang="en-US" sz="1150" dirty="0">
                  <a:solidFill>
                    <a:srgbClr val="D6E5EF"/>
                  </a:solidFill>
                  <a:latin typeface="Source Sans 3" panose="020B0303030403020204" pitchFamily="34" charset="0"/>
                  <a:ea typeface="Source Sans 3" panose="020B0303030403020204" pitchFamily="34" charset="-122"/>
                  <a:cs typeface="Source Sans 3" panose="020B0303030403020204" pitchFamily="34" charset="-120"/>
                </a:rPr>
                <a:t>Appointment Status</a:t>
              </a:r>
              <a:endParaRPr lang="en-US" sz="1150" dirty="0"/>
            </a:p>
            <a:p>
              <a:pPr marL="233680" indent="-233680" algn="l">
                <a:lnSpc>
                  <a:spcPct val="133000"/>
                </a:lnSpc>
                <a:buSzPct val="100000"/>
                <a:buChar char="•"/>
              </a:pPr>
              <a:r>
                <a:rPr lang="en-US" sz="1150" dirty="0">
                  <a:solidFill>
                    <a:srgbClr val="D6E5EF"/>
                  </a:solidFill>
                  <a:latin typeface="Source Sans 3" panose="020B0303030403020204" pitchFamily="34" charset="0"/>
                  <a:ea typeface="Source Sans 3" panose="020B0303030403020204" pitchFamily="34" charset="-122"/>
                  <a:cs typeface="Source Sans 3" panose="020B0303030403020204" pitchFamily="34" charset="-120"/>
                </a:rPr>
                <a:t>Doctor Details</a:t>
              </a:r>
              <a:endParaRPr lang="en-US" sz="115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6225" y="6150"/>
              <a:ext cx="7351" cy="416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650" dirty="0">
                  <a:solidFill>
                    <a:srgbClr val="F98AC7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Purpose:</a:t>
              </a:r>
              <a:endParaRPr lang="en-US" sz="165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6225" y="6919"/>
              <a:ext cx="8071" cy="377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233680" indent="-233680" algn="l">
                <a:lnSpc>
                  <a:spcPct val="133000"/>
                </a:lnSpc>
                <a:buSzPct val="100000"/>
                <a:buChar char="•"/>
              </a:pPr>
              <a:r>
                <a:rPr lang="en-US" sz="1150" dirty="0">
                  <a:solidFill>
                    <a:srgbClr val="D6E5EF"/>
                  </a:solidFill>
                  <a:latin typeface="Source Sans 3" panose="020B0303030403020204" pitchFamily="34" charset="0"/>
                  <a:ea typeface="Source Sans 3" panose="020B0303030403020204" pitchFamily="34" charset="-122"/>
                  <a:cs typeface="Source Sans 3" panose="020B0303030403020204" pitchFamily="34" charset="-120"/>
                </a:rPr>
                <a:t>Helps patients manage their appointments efficiently</a:t>
              </a:r>
              <a:endParaRPr lang="en-US" sz="1150" dirty="0"/>
            </a:p>
          </p:txBody>
        </p:sp>
      </p:grpSp>
      <p:sp>
        <p:nvSpPr>
          <p:cNvPr id="9" name="Rectangle 8"/>
          <p:cNvSpPr/>
          <p:nvPr/>
        </p:nvSpPr>
        <p:spPr>
          <a:xfrm>
            <a:off x="7926070" y="4789170"/>
            <a:ext cx="1227455" cy="354330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10" name="Picture 9" descr="Screenshot 2026-08-06 2359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5165" y="373380"/>
            <a:ext cx="4517390" cy="441579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476115" y="441960"/>
            <a:ext cx="4385945" cy="125793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UI Storyboard – Patient Dashboard (Medical Records/Details)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476115" y="1903730"/>
            <a:ext cx="4385945" cy="2228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Provides detailed healthcare information.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476115" y="2330450"/>
            <a:ext cx="4385945" cy="2514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Features: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4475480" y="2785745"/>
            <a:ext cx="4385945" cy="10337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Medical Records</a:t>
            </a:r>
            <a:endParaRPr lang="en-US" sz="1100" dirty="0"/>
          </a:p>
          <a:p>
            <a:pPr marL="223520" indent="-223520" algn="l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Reports</a:t>
            </a:r>
            <a:endParaRPr lang="en-US" sz="1100" dirty="0"/>
          </a:p>
          <a:p>
            <a:pPr marL="223520" indent="-223520" algn="l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Appointment History</a:t>
            </a:r>
            <a:endParaRPr lang="en-US" sz="1100" dirty="0"/>
          </a:p>
          <a:p>
            <a:pPr marL="223520" indent="-223520" algn="l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Health Information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476115" y="4023360"/>
            <a:ext cx="4384675" cy="2609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Purpose: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4476115" y="4478655"/>
            <a:ext cx="4385945" cy="266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Maintains organized digital healthcare records</a:t>
            </a:r>
            <a:endParaRPr lang="en-US" sz="11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rcRect b="9123"/>
          <a:stretch>
            <a:fillRect/>
          </a:stretch>
        </p:blipFill>
        <p:spPr>
          <a:xfrm>
            <a:off x="7915275" y="4829175"/>
            <a:ext cx="1228725" cy="328930"/>
          </a:xfrm>
          <a:prstGeom prst="rect">
            <a:avLst/>
          </a:prstGeom>
        </p:spPr>
      </p:pic>
      <p:pic>
        <p:nvPicPr>
          <p:cNvPr id="9" name="Picture 8" descr="Screenshot 2026-08-07 000011"/>
          <p:cNvPicPr>
            <a:picLocks noChangeAspect="1"/>
          </p:cNvPicPr>
          <p:nvPr/>
        </p:nvPicPr>
        <p:blipFill>
          <a:blip r:embed="rId2"/>
          <a:srcRect r="1532"/>
          <a:stretch>
            <a:fillRect/>
          </a:stretch>
        </p:blipFill>
        <p:spPr>
          <a:xfrm>
            <a:off x="143510" y="93345"/>
            <a:ext cx="3973195" cy="495681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43205" y="742950"/>
            <a:ext cx="4329430" cy="3803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UI Storyboard – Developers</a:t>
            </a:r>
            <a:endParaRPr lang="en-US" sz="2400" dirty="0">
              <a:solidFill>
                <a:srgbClr val="F98AC7"/>
              </a:solidFill>
              <a:latin typeface="Lora" pitchFamily="34" charset="0"/>
              <a:ea typeface="Lora" pitchFamily="34" charset="-122"/>
              <a:cs typeface="Lora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243205" y="1262380"/>
            <a:ext cx="6158230" cy="177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Displays information about the project development team.</a:t>
            </a:r>
            <a:endParaRPr lang="en-US" sz="1000" dirty="0">
              <a:solidFill>
                <a:srgbClr val="D6E5EF"/>
              </a:solidFill>
              <a:latin typeface="Source Sans 3" panose="020B0303030403020204" pitchFamily="34" charset="0"/>
              <a:ea typeface="Source Sans 3" panose="020B0303030403020204" pitchFamily="34" charset="-122"/>
              <a:cs typeface="Source Sans 3" panose="020B0303030403020204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243205" y="1579245"/>
            <a:ext cx="5608955" cy="2279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Includes:</a:t>
            </a:r>
            <a:endParaRPr lang="en-US" sz="1400" dirty="0">
              <a:solidFill>
                <a:srgbClr val="F98AC7"/>
              </a:solidFill>
              <a:latin typeface="Lora" pitchFamily="34" charset="0"/>
              <a:ea typeface="Lora" pitchFamily="34" charset="-122"/>
              <a:cs typeface="Lora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243205" y="1946275"/>
            <a:ext cx="5608955" cy="59753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62560" indent="-162560" algn="l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Team Members</a:t>
            </a:r>
            <a:endParaRPr lang="en-US" sz="1000" dirty="0"/>
          </a:p>
          <a:p>
            <a:pPr marL="162560" indent="-162560" algn="l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Roles</a:t>
            </a:r>
            <a:endParaRPr lang="en-US" sz="1000" dirty="0"/>
          </a:p>
          <a:p>
            <a:pPr marL="162560" indent="-162560" algn="l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Contact Information</a:t>
            </a:r>
            <a:endParaRPr lang="en-US" sz="1000" dirty="0">
              <a:solidFill>
                <a:srgbClr val="D6E5EF"/>
              </a:solidFill>
              <a:latin typeface="Source Sans 3" panose="020B0303030403020204" pitchFamily="34" charset="0"/>
              <a:ea typeface="Source Sans 3" panose="020B0303030403020204" pitchFamily="34" charset="-122"/>
              <a:cs typeface="Source Sans 3" panose="020B0303030403020204" pitchFamily="34" charset="-120"/>
            </a:endParaRPr>
          </a:p>
        </p:txBody>
      </p:sp>
      <p:grpSp>
        <p:nvGrpSpPr>
          <p:cNvPr id="16" name="Group 15"/>
          <p:cNvGrpSpPr/>
          <p:nvPr/>
        </p:nvGrpSpPr>
        <p:grpSpPr>
          <a:xfrm rot="0">
            <a:off x="243205" y="2828925"/>
            <a:ext cx="2745105" cy="889635"/>
            <a:chOff x="6225" y="5387"/>
            <a:chExt cx="3598" cy="1166"/>
          </a:xfrm>
        </p:grpSpPr>
        <p:sp>
          <p:nvSpPr>
            <p:cNvPr id="8" name="Text 4"/>
            <p:cNvSpPr/>
            <p:nvPr/>
          </p:nvSpPr>
          <p:spPr>
            <a:xfrm>
              <a:off x="6225" y="5387"/>
              <a:ext cx="3599" cy="249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400" dirty="0">
                  <a:solidFill>
                    <a:srgbClr val="D6E5EF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Prithwijit Khan</a:t>
              </a:r>
              <a:endPara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endParaRPr>
            </a:p>
          </p:txBody>
        </p:sp>
        <p:sp>
          <p:nvSpPr>
            <p:cNvPr id="9" name="Text 5"/>
            <p:cNvSpPr/>
            <p:nvPr/>
          </p:nvSpPr>
          <p:spPr>
            <a:xfrm>
              <a:off x="6225" y="5709"/>
              <a:ext cx="3599" cy="844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15000"/>
                </a:lnSpc>
                <a:spcAft>
                  <a:spcPts val="350"/>
                </a:spcAft>
                <a:buNone/>
              </a:pPr>
              <a:r>
                <a:rPr lang="en-US" sz="1000" dirty="0">
                  <a:solidFill>
                    <a:srgbClr val="D6E5EF"/>
                  </a:solidFill>
                  <a:latin typeface="Source Sans 3" panose="020B0303030403020204" pitchFamily="34" charset="0"/>
                  <a:ea typeface="Source Sans 3" panose="020B0303030403020204" pitchFamily="34" charset="-122"/>
                  <a:cs typeface="Source Sans 3" panose="020B0303030403020204" pitchFamily="34" charset="-120"/>
                </a:rPr>
                <a:t>UI/UX Design &amp; Prototyping</a:t>
              </a:r>
              <a:endParaRPr lang="en-US" sz="1000" dirty="0"/>
            </a:p>
            <a:p>
              <a:pPr marL="0" indent="0" algn="l">
                <a:lnSpc>
                  <a:spcPct val="115000"/>
                </a:lnSpc>
                <a:spcAft>
                  <a:spcPts val="350"/>
                </a:spcAft>
                <a:buNone/>
              </a:pPr>
              <a:r>
                <a:rPr lang="en-US" sz="1000" dirty="0">
                  <a:solidFill>
                    <a:srgbClr val="D6E5EF"/>
                  </a:solidFill>
                  <a:latin typeface="Source Sans 3" panose="020B0303030403020204" pitchFamily="34" charset="0"/>
                  <a:ea typeface="Source Sans 3" panose="020B0303030403020204" pitchFamily="34" charset="-122"/>
                  <a:cs typeface="Source Sans 3" panose="020B0303030403020204" pitchFamily="34" charset="-120"/>
                </a:rPr>
                <a:t>Roll No: 18842725073</a:t>
              </a:r>
              <a:endParaRPr lang="en-US" sz="1000" dirty="0"/>
            </a:p>
            <a:p>
              <a:pPr marL="0" indent="0" algn="l">
                <a:lnSpc>
                  <a:spcPct val="115000"/>
                </a:lnSpc>
                <a:buNone/>
              </a:pPr>
              <a:r>
                <a:rPr lang="en-US" sz="1000" dirty="0">
                  <a:solidFill>
                    <a:srgbClr val="D6E5EF"/>
                  </a:solidFill>
                  <a:latin typeface="Source Sans 3" panose="020B0303030403020204" pitchFamily="34" charset="0"/>
                  <a:ea typeface="Source Sans 3" panose="020B0303030403020204" pitchFamily="34" charset="-122"/>
                  <a:cs typeface="Source Sans 3" panose="020B0303030403020204" pitchFamily="34" charset="-120"/>
                </a:rPr>
                <a:t>Techno College Hooghly, BCA</a:t>
              </a:r>
              <a:endParaRPr lang="en-US" sz="100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 rot="0">
            <a:off x="3107055" y="2828925"/>
            <a:ext cx="2745105" cy="889635"/>
            <a:chOff x="9976" y="5387"/>
            <a:chExt cx="3598" cy="1166"/>
          </a:xfrm>
        </p:grpSpPr>
        <p:sp>
          <p:nvSpPr>
            <p:cNvPr id="11" name="Text 6"/>
            <p:cNvSpPr/>
            <p:nvPr/>
          </p:nvSpPr>
          <p:spPr>
            <a:xfrm>
              <a:off x="9976" y="5387"/>
              <a:ext cx="3599" cy="249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950" dirty="0">
                  <a:solidFill>
                    <a:srgbClr val="D6E5EF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Ayan </a:t>
              </a:r>
              <a:r>
                <a:rPr lang="en-US" sz="1400" dirty="0">
                  <a:solidFill>
                    <a:srgbClr val="D6E5EF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Koley</a:t>
              </a:r>
              <a:endParaRPr lang="en-US" sz="950" dirty="0"/>
            </a:p>
          </p:txBody>
        </p:sp>
        <p:sp>
          <p:nvSpPr>
            <p:cNvPr id="12" name="Text 7"/>
            <p:cNvSpPr/>
            <p:nvPr/>
          </p:nvSpPr>
          <p:spPr>
            <a:xfrm>
              <a:off x="9976" y="5709"/>
              <a:ext cx="3599" cy="844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15000"/>
                </a:lnSpc>
                <a:spcAft>
                  <a:spcPts val="350"/>
                </a:spcAft>
                <a:buNone/>
              </a:pPr>
              <a:r>
                <a:rPr lang="en-US" sz="1000" dirty="0">
                  <a:solidFill>
                    <a:srgbClr val="D6E5EF"/>
                  </a:solidFill>
                  <a:latin typeface="Source Sans 3" panose="020B0303030403020204" pitchFamily="34" charset="0"/>
                  <a:ea typeface="Source Sans 3" panose="020B0303030403020204" pitchFamily="34" charset="-122"/>
                  <a:cs typeface="Source Sans 3" panose="020B0303030403020204" pitchFamily="34" charset="-120"/>
                </a:rPr>
                <a:t>UI/UX Design &amp; Prototyping</a:t>
              </a:r>
              <a:endParaRPr lang="en-US" sz="1000" dirty="0"/>
            </a:p>
            <a:p>
              <a:pPr marL="0" indent="0" algn="l">
                <a:lnSpc>
                  <a:spcPct val="115000"/>
                </a:lnSpc>
                <a:spcAft>
                  <a:spcPts val="350"/>
                </a:spcAft>
                <a:buNone/>
              </a:pPr>
              <a:r>
                <a:rPr lang="en-US" sz="1000" dirty="0">
                  <a:solidFill>
                    <a:srgbClr val="D6E5EF"/>
                  </a:solidFill>
                  <a:latin typeface="Source Sans 3" panose="020B0303030403020204" pitchFamily="34" charset="0"/>
                  <a:ea typeface="Source Sans 3" panose="020B0303030403020204" pitchFamily="34" charset="-122"/>
                  <a:cs typeface="Source Sans 3" panose="020B0303030403020204" pitchFamily="34" charset="-120"/>
                </a:rPr>
                <a:t>Roll No: 18842725097</a:t>
              </a:r>
              <a:endParaRPr lang="en-US" sz="1000" dirty="0"/>
            </a:p>
            <a:p>
              <a:pPr marL="0" indent="0" algn="l">
                <a:lnSpc>
                  <a:spcPct val="115000"/>
                </a:lnSpc>
                <a:buNone/>
              </a:pPr>
              <a:r>
                <a:rPr lang="en-US" sz="1000" dirty="0">
                  <a:solidFill>
                    <a:srgbClr val="D6E5EF"/>
                  </a:solidFill>
                  <a:latin typeface="Source Sans 3" panose="020B0303030403020204" pitchFamily="34" charset="0"/>
                  <a:ea typeface="Source Sans 3" panose="020B0303030403020204" pitchFamily="34" charset="-122"/>
                  <a:cs typeface="Source Sans 3" panose="020B0303030403020204" pitchFamily="34" charset="-120"/>
                </a:rPr>
                <a:t>Techno College Hooghly, BCA</a:t>
              </a:r>
              <a:endParaRPr lang="en-US" sz="100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 rot="0">
            <a:off x="243840" y="3857625"/>
            <a:ext cx="6157595" cy="544195"/>
            <a:chOff x="6225" y="6736"/>
            <a:chExt cx="8070" cy="713"/>
          </a:xfrm>
        </p:grpSpPr>
        <p:sp>
          <p:nvSpPr>
            <p:cNvPr id="13" name="Text 8"/>
            <p:cNvSpPr/>
            <p:nvPr/>
          </p:nvSpPr>
          <p:spPr>
            <a:xfrm>
              <a:off x="6225" y="6736"/>
              <a:ext cx="7351" cy="299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150" dirty="0">
                  <a:solidFill>
                    <a:srgbClr val="F98AC7"/>
                  </a:solidFill>
                  <a:latin typeface="Lora" pitchFamily="34" charset="0"/>
                  <a:ea typeface="Lora" pitchFamily="34" charset="-122"/>
                  <a:cs typeface="Lora" pitchFamily="34" charset="-120"/>
                </a:rPr>
                <a:t>Purpose:</a:t>
              </a:r>
              <a:endParaRPr lang="en-US" sz="1150" dirty="0"/>
            </a:p>
          </p:txBody>
        </p:sp>
        <p:sp>
          <p:nvSpPr>
            <p:cNvPr id="14" name="Text 9"/>
            <p:cNvSpPr/>
            <p:nvPr/>
          </p:nvSpPr>
          <p:spPr>
            <a:xfrm>
              <a:off x="6225" y="7217"/>
              <a:ext cx="8071" cy="233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162560" indent="-162560" algn="l">
                <a:lnSpc>
                  <a:spcPct val="115000"/>
                </a:lnSpc>
                <a:buSzPct val="100000"/>
                <a:buChar char="•"/>
              </a:pPr>
              <a:r>
                <a:rPr lang="en-US" sz="800" dirty="0">
                  <a:solidFill>
                    <a:srgbClr val="D6E5EF"/>
                  </a:solidFill>
                  <a:latin typeface="Source Sans 3" panose="020B0303030403020204" pitchFamily="34" charset="0"/>
                  <a:ea typeface="Source Sans 3" panose="020B0303030403020204" pitchFamily="34" charset="-122"/>
                  <a:cs typeface="Source Sans 3" panose="020B0303030403020204" pitchFamily="34" charset="-120"/>
                </a:rPr>
                <a:t>Acknowledges the contributors to the project</a:t>
              </a:r>
              <a:endParaRPr lang="en-US" sz="800" dirty="0"/>
            </a:p>
          </p:txBody>
        </p:sp>
      </p:grpSp>
      <p:sp>
        <p:nvSpPr>
          <p:cNvPr id="15" name="Rectangle 14"/>
          <p:cNvSpPr/>
          <p:nvPr/>
        </p:nvSpPr>
        <p:spPr>
          <a:xfrm>
            <a:off x="7926070" y="4789170"/>
            <a:ext cx="1227455" cy="354330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4480" y="1103630"/>
            <a:ext cx="3342640" cy="29356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840135"/>
            <a:ext cx="8096845" cy="35205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Conclusion &amp; Credits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23577" y="1491407"/>
            <a:ext cx="8096845" cy="4787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D6E5EF"/>
                </a:solidFill>
                <a:latin typeface="Source Sans 3 Bold" panose="020B0303030403020204" pitchFamily="34" charset="0"/>
                <a:ea typeface="Source Sans 3 Bold" panose="020B0303030403020204" pitchFamily="34" charset="-122"/>
                <a:cs typeface="Source Sans 3 Bold" panose="020B0303030403020204" pitchFamily="34" charset="-120"/>
              </a:rPr>
              <a:t>Swasthya Mitra</a:t>
            </a:r>
            <a:r>
              <a:rPr lang="en-US" sz="115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 simplifies healthcare access through a secure, intuitive appointment and records platform—reducing friction for patients and improving operational efficiency for providers.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23577" y="2138437"/>
            <a:ext cx="3973637" cy="1087636"/>
          </a:xfrm>
          <a:prstGeom prst="roundRect">
            <a:avLst>
              <a:gd name="adj" fmla="val 2063"/>
            </a:avLst>
          </a:prstGeom>
          <a:solidFill>
            <a:srgbClr val="444752"/>
          </a:solidFill>
        </p:spPr>
      </p:sp>
      <p:sp>
        <p:nvSpPr>
          <p:cNvPr id="5" name="Text 3"/>
          <p:cNvSpPr/>
          <p:nvPr/>
        </p:nvSpPr>
        <p:spPr>
          <a:xfrm>
            <a:off x="673150" y="2288009"/>
            <a:ext cx="3674492" cy="2199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Team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73100" y="2597785"/>
            <a:ext cx="3674745" cy="4794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Prithwijit Khan, Ayan Koley </a:t>
            </a:r>
            <a:endParaRPr lang="en-US" sz="1150" dirty="0">
              <a:solidFill>
                <a:srgbClr val="D6E5EF"/>
              </a:solidFill>
              <a:latin typeface="Source Sans 3" panose="020B0303030403020204" pitchFamily="34" charset="0"/>
              <a:ea typeface="Source Sans 3" panose="020B0303030403020204" pitchFamily="34" charset="-122"/>
              <a:cs typeface="Source Sans 3" panose="020B0303030403020204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Techno College Hooghly • BCA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46786" y="2138437"/>
            <a:ext cx="3973637" cy="1087636"/>
          </a:xfrm>
          <a:prstGeom prst="roundRect">
            <a:avLst>
              <a:gd name="adj" fmla="val 2063"/>
            </a:avLst>
          </a:prstGeom>
          <a:solidFill>
            <a:srgbClr val="444752"/>
          </a:solidFill>
        </p:spPr>
      </p:sp>
      <p:sp>
        <p:nvSpPr>
          <p:cNvPr id="8" name="Text 6"/>
          <p:cNvSpPr/>
          <p:nvPr/>
        </p:nvSpPr>
        <p:spPr>
          <a:xfrm>
            <a:off x="4796358" y="2288009"/>
            <a:ext cx="3674492" cy="2199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Next Steps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96358" y="2597721"/>
            <a:ext cx="3674492" cy="4787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Prototype testing, user feedback sessions, iterate UI, and plan a pilot deployment with partner clinics.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23577" y="3431679"/>
            <a:ext cx="8096845" cy="19050"/>
          </a:xfrm>
          <a:prstGeom prst="roundRect">
            <a:avLst>
              <a:gd name="adj" fmla="val 50000"/>
            </a:avLst>
          </a:prstGeom>
          <a:solidFill>
            <a:srgbClr val="D6E5EF">
              <a:alpha val="50000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523577" y="3656335"/>
            <a:ext cx="8096845" cy="647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D6E5EF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THANK YOU </a:t>
            </a:r>
            <a:endParaRPr lang="en-US" sz="115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150" b="1" u="sng" dirty="0">
                <a:solidFill>
                  <a:srgbClr val="F98AC7"/>
                </a:solidFill>
                <a:latin typeface="Source Sans 3 Bold" panose="020B0303030403020204" pitchFamily="34" charset="0"/>
                <a:ea typeface="Source Sans 3 Bold" panose="020B0303030403020204" pitchFamily="34" charset="-122"/>
                <a:cs typeface="Source Sans 3 Bold" panose="020B0303030403020204" pitchFamily="34" charset="-120"/>
                <a:hlinkClick r:id="rId1"/>
              </a:rPr>
              <a:t>ayankoley306@gmail.com</a:t>
            </a:r>
            <a:r>
              <a:rPr lang="en-US" sz="1150" b="1" dirty="0">
                <a:solidFill>
                  <a:srgbClr val="F98AC7"/>
                </a:solidFill>
                <a:latin typeface="Source Sans 3 Bold" panose="020B0303030403020204" pitchFamily="34" charset="0"/>
                <a:ea typeface="Source Sans 3 Bold" panose="020B0303030403020204" pitchFamily="34" charset="-122"/>
                <a:cs typeface="Source Sans 3 Bold" panose="020B0303030403020204" pitchFamily="34" charset="-120"/>
              </a:rPr>
              <a:t>	       </a:t>
            </a:r>
            <a:r>
              <a:rPr lang="en-US" altLang="en-US" sz="1150" b="1" u="sng" dirty="0">
                <a:solidFill>
                  <a:srgbClr val="F98AC7"/>
                </a:solidFill>
                <a:latin typeface="Source Sans 3 Bold" panose="020B0303030403020204" pitchFamily="34" charset="0"/>
                <a:ea typeface="Source Sans 3 Bold" panose="020B0303030403020204" pitchFamily="34" charset="-122"/>
                <a:cs typeface="Source Sans 3 Bold" panose="020B0303030403020204" pitchFamily="34" charset="-120"/>
              </a:rPr>
              <a:t>thisisprithwijit@gmail.com</a:t>
            </a:r>
            <a:endParaRPr lang="en-US" altLang="en-US" sz="1150" b="1" u="sng" dirty="0">
              <a:solidFill>
                <a:srgbClr val="F98AC7"/>
              </a:solidFill>
              <a:latin typeface="Source Sans 3 Bold" panose="020B0303030403020204" pitchFamily="34" charset="0"/>
              <a:ea typeface="Source Sans 3 Bold" panose="020B0303030403020204" pitchFamily="34" charset="-122"/>
              <a:cs typeface="Source Sans 3 Bold" panose="020B0303030403020204" pitchFamily="34" charset="-12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26070" y="4789170"/>
            <a:ext cx="1227455" cy="354330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98AC7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98AC7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4946</Words>
  <Application>WPS Presentation</Application>
  <PresentationFormat>On-screen Show (16:9)</PresentationFormat>
  <Paragraphs>251</Paragraphs>
  <Slides>15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1" baseType="lpstr">
      <vt:lpstr>Arial</vt:lpstr>
      <vt:lpstr>SimSun</vt:lpstr>
      <vt:lpstr>Wingdings</vt:lpstr>
      <vt:lpstr>Lora</vt:lpstr>
      <vt:lpstr>Lora</vt:lpstr>
      <vt:lpstr>Lora</vt:lpstr>
      <vt:lpstr>Source Sans 3</vt:lpstr>
      <vt:lpstr>Source Sans 3</vt:lpstr>
      <vt:lpstr>Source Sans 3</vt:lpstr>
      <vt:lpstr>Source Sans 3 Bold</vt:lpstr>
      <vt:lpstr>Source Sans 3 Bold</vt:lpstr>
      <vt:lpstr>Source Sans 3 Bold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ayank</cp:lastModifiedBy>
  <cp:revision>6</cp:revision>
  <dcterms:created xsi:type="dcterms:W3CDTF">2026-08-07T02:58:00Z</dcterms:created>
  <dcterms:modified xsi:type="dcterms:W3CDTF">2026-08-07T04:26:22Z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7B8406045D604858B298ADB2C0313431_12</vt:lpwstr>
  </property>
</Properties>
</file>